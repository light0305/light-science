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deo-frame" descr="light-figure:user-id=video-frame"/>
          <p:cNvSpPr/>
          <p:nvPr/>
        </p:nvSpPr>
        <p:spPr>
          <a:xfrm>
            <a:off x="342900" y="1028700"/>
            <a:ext cx="3886200" cy="1143000"/>
          </a:xfrm>
          <a:prstGeom prst="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deo-label" descr="light-figure:user-id=video-label"/>
          <p:cNvSpPr txBox="1"/>
          <p:nvPr/>
        </p:nvSpPr>
        <p:spPr>
          <a:xfrm>
            <a:off x="457200" y="14859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Barn camera video</a:t>
            </a:r>
          </a:p>
        </p:txBody>
      </p:sp>
      <p:sp>
        <p:nvSpPr>
          <p:cNvPr id="4" name="tracking" descr="light-figure:user-id=tracking"/>
          <p:cNvSpPr/>
          <p:nvPr/>
        </p:nvSpPr>
        <p:spPr>
          <a:xfrm>
            <a:off x="342900" y="3429000"/>
            <a:ext cx="3886200" cy="1143000"/>
          </a:xfrm>
          <a:prstGeom prst="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king-label" descr="light-figure:user-id=tracking-label"/>
          <p:cNvSpPr txBox="1"/>
          <p:nvPr/>
        </p:nvSpPr>
        <p:spPr>
          <a:xfrm>
            <a:off x="45720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Multi-object tracking</a:t>
            </a:r>
          </a:p>
        </p:txBody>
      </p:sp>
      <p:sp>
        <p:nvSpPr>
          <p:cNvPr id="6" name="statistics" descr="light-figure:user-id=statistics"/>
          <p:cNvSpPr/>
          <p:nvPr/>
        </p:nvSpPr>
        <p:spPr>
          <a:xfrm>
            <a:off x="4914900" y="685800"/>
            <a:ext cx="3886200" cy="914400"/>
          </a:xfrm>
          <a:prstGeom prst="round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istics-label" descr="light-figure:user-id=statistics-label"/>
          <p:cNvSpPr txBox="1"/>
          <p:nvPr/>
        </p:nvSpPr>
        <p:spPr>
          <a:xfrm>
            <a:off x="5029200" y="1000125"/>
            <a:ext cx="3657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Video-level statistics</a:t>
            </a:r>
          </a:p>
        </p:txBody>
      </p:sp>
      <p:sp>
        <p:nvSpPr>
          <p:cNvPr id="8" name="predictor" descr="light-figure:user-id=predictor"/>
          <p:cNvSpPr/>
          <p:nvPr/>
        </p:nvSpPr>
        <p:spPr>
          <a:xfrm>
            <a:off x="4914900" y="2057400"/>
            <a:ext cx="3886200" cy="914400"/>
          </a:xfrm>
          <a:prstGeom prst="round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or-label" descr="light-figure:user-id=predictor-label"/>
          <p:cNvSpPr txBox="1"/>
          <p:nvPr/>
        </p:nvSpPr>
        <p:spPr>
          <a:xfrm>
            <a:off x="5029200" y="2371725"/>
            <a:ext cx="3657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Threshold prediction</a:t>
            </a:r>
          </a:p>
        </p:txBody>
      </p:sp>
      <p:sp>
        <p:nvSpPr>
          <p:cNvPr id="10" name="thresholds" descr="light-figure:user-id=thresholds"/>
          <p:cNvSpPr/>
          <p:nvPr/>
        </p:nvSpPr>
        <p:spPr>
          <a:xfrm>
            <a:off x="4914900" y="3429000"/>
            <a:ext cx="3886200" cy="914400"/>
          </a:xfrm>
          <a:prstGeom prst="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hresholds-label" descr="light-figure:user-id=thresholds-label"/>
          <p:cNvSpPr txBox="1"/>
          <p:nvPr/>
        </p:nvSpPr>
        <p:spPr>
          <a:xfrm>
            <a:off x="5029200" y="3743325"/>
            <a:ext cx="3657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Per-tracklet thresholds</a:t>
            </a:r>
          </a:p>
        </p:txBody>
      </p:sp>
      <p:sp>
        <p:nvSpPr>
          <p:cNvPr id="12" name="anomaly" descr="light-figure:user-id=anomaly"/>
          <p:cNvSpPr/>
          <p:nvPr/>
        </p:nvSpPr>
        <p:spPr>
          <a:xfrm>
            <a:off x="4914900" y="4686300"/>
            <a:ext cx="3886200" cy="800100"/>
          </a:xfrm>
          <a:prstGeom prst="roundRect">
            <a:avLst/>
          </a:prstGeom>
          <a:solidFill>
            <a:srgbClr val="0072B2"/>
          </a:solidFill>
          <a:ln w="9525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omaly-label" descr="light-figure:user-id=anomaly-label"/>
          <p:cNvSpPr txBox="1"/>
          <p:nvPr/>
        </p:nvSpPr>
        <p:spPr>
          <a:xfrm>
            <a:off x="5029200" y="5000625"/>
            <a:ext cx="3657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Anomaly flagging</a:t>
            </a:r>
          </a:p>
        </p:txBody>
      </p:sp>
      <p:cxnSp>
        <p:nvCxnSpPr>
          <p:cNvPr id="14" name="arrow-AP-1" descr="light-figure:arrow=AP-1;from=video-frame;to=tracking"/>
          <p:cNvCxnSpPr/>
          <p:nvPr/>
        </p:nvCxnSpPr>
        <p:spPr>
          <a:xfrm>
            <a:off x="2286000" y="1600200"/>
            <a:ext cx="0" cy="240030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row-AP-2" descr="light-figure:arrow=AP-2;from=tracking;to=statistics"/>
          <p:cNvCxnSpPr/>
          <p:nvPr/>
        </p:nvCxnSpPr>
        <p:spPr>
          <a:xfrm flipV="1">
            <a:off x="2286000" y="1143000"/>
            <a:ext cx="4572000" cy="285750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-AP-3" descr="light-figure:arrow=AP-3;from=statistics;to=predictor"/>
          <p:cNvCxnSpPr/>
          <p:nvPr/>
        </p:nvCxnSpPr>
        <p:spPr>
          <a:xfrm>
            <a:off x="6858000" y="1143000"/>
            <a:ext cx="0" cy="137160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-AP-4" descr="light-figure:arrow=AP-4;from=predictor;to=thresholds"/>
          <p:cNvCxnSpPr/>
          <p:nvPr/>
        </p:nvCxnSpPr>
        <p:spPr>
          <a:xfrm>
            <a:off x="6858000" y="2514600"/>
            <a:ext cx="0" cy="137160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-AP-5" descr="light-figure:arrow=AP-5;from=thresholds;to=anomaly"/>
          <p:cNvCxnSpPr/>
          <p:nvPr/>
        </p:nvCxnSpPr>
        <p:spPr>
          <a:xfrm>
            <a:off x="6858000" y="3886200"/>
            <a:ext cx="0" cy="120015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reference-fi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